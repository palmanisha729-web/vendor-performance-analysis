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Nunito Semi Bold"/>
      <p:regular r:id="rId17"/>
    </p:embeddedFont>
    <p:embeddedFont>
      <p:font typeface="Nunito Semi Bold"/>
      <p:regular r:id="rId18"/>
    </p:embeddedFont>
    <p:embeddedFont>
      <p:font typeface="Nunito Semi Bold"/>
      <p:regular r:id="rId19"/>
    </p:embeddedFont>
    <p:embeddedFont>
      <p:font typeface="Nunito Semi Bold"/>
      <p:regular r:id="rId20"/>
    </p:embeddedFont>
    <p:embeddedFont>
      <p:font typeface="PT Sans"/>
      <p:regular r:id="rId21"/>
    </p:embeddedFont>
    <p:embeddedFont>
      <p:font typeface="PT Sans"/>
      <p:regular r:id="rId22"/>
    </p:embeddedFont>
    <p:embeddedFont>
      <p:font typeface="PT Sans"/>
      <p:regular r:id="rId23"/>
    </p:embeddedFont>
    <p:embeddedFont>
      <p:font typeface="PT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71763"/>
            <a:ext cx="7468553" cy="1231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Vendor Performance &amp; Inventory Optimization Analysis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37724" y="4217670"/>
            <a:ext cx="7468553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Unlocking profitability through strategic vendor management and inventory optimization. This comprehensive analysis reveals $2.71M in locked capital and identifies critical opportunities to maximize margins while reducing operational inefficiencies.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955840"/>
            <a:ext cx="1854994" cy="393502"/>
          </a:xfrm>
          <a:prstGeom prst="roundRect">
            <a:avLst>
              <a:gd name="adj" fmla="val 63875"/>
            </a:avLst>
          </a:prstGeom>
          <a:solidFill>
            <a:srgbClr val="483304"/>
          </a:solidFill>
          <a:ln/>
        </p:spPr>
      </p:sp>
      <p:sp>
        <p:nvSpPr>
          <p:cNvPr id="3" name="Text 1"/>
          <p:cNvSpPr/>
          <p:nvPr/>
        </p:nvSpPr>
        <p:spPr>
          <a:xfrm>
            <a:off x="963335" y="2018586"/>
            <a:ext cx="1603772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2433042"/>
            <a:ext cx="9683234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Opportunity: $2.71M in Locked Capital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7724" y="3551515"/>
            <a:ext cx="756856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Our analysis uncovered significant capital inefficiencies driven by low-turnover vendors and under-promoted high-margin brands. The business must strategically reallocate marketing budgets toward high-margin "Target Brands" while reducing bulk orders from vendors contributing to dead stock.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5080159"/>
            <a:ext cx="7568565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report evaluates vendor performance and inventory health across 10,000+ transactional records, revealing actionable insights for profit maximization and cost reduction.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774073" y="3363039"/>
            <a:ext cx="5177076" cy="2910721"/>
          </a:xfrm>
          <a:prstGeom prst="roundRect">
            <a:avLst>
              <a:gd name="adj" fmla="val 17271"/>
            </a:avLst>
          </a:prstGeom>
          <a:solidFill>
            <a:srgbClr val="F2B42D">
              <a:alpha val="7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83504" y="3572470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Findings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83504" y="4089916"/>
            <a:ext cx="4758214" cy="1559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$2.71M tied in unsold inventory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72% cost reduction through bulk purchasing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Low-volume vendors maintain 40%+ margins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 10 vendors drive 65.69% of purchases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759143"/>
            <a:ext cx="1434465" cy="423982"/>
          </a:xfrm>
          <a:prstGeom prst="roundRect">
            <a:avLst>
              <a:gd name="adj" fmla="val 59283"/>
            </a:avLst>
          </a:prstGeom>
          <a:noFill/>
          <a:ln w="15240">
            <a:solidFill>
              <a:srgbClr val="F2B4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8575" y="837128"/>
            <a:ext cx="115276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2B42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7724" y="1266825"/>
            <a:ext cx="8650010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End-to-End Data Pipeline Architecture</a:t>
            </a:r>
            <a:endParaRPr lang="en-US" sz="3850" dirty="0"/>
          </a:p>
        </p:txBody>
      </p:sp>
      <p:sp>
        <p:nvSpPr>
          <p:cNvPr id="5" name="Text 3"/>
          <p:cNvSpPr/>
          <p:nvPr/>
        </p:nvSpPr>
        <p:spPr>
          <a:xfrm>
            <a:off x="837724" y="2196822"/>
            <a:ext cx="12954952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 ensure robust and scalable analysis, we executed a comprehensive four-phase data transformation workflow: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7724" y="2767489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7724" y="3100507"/>
            <a:ext cx="6372701" cy="22860"/>
          </a:xfrm>
          <a:prstGeom prst="rect">
            <a:avLst/>
          </a:prstGeom>
          <a:solidFill>
            <a:srgbClr val="F2B42D"/>
          </a:solidFill>
          <a:ln/>
        </p:spPr>
      </p:sp>
      <p:sp>
        <p:nvSpPr>
          <p:cNvPr id="8" name="Text 6"/>
          <p:cNvSpPr/>
          <p:nvPr/>
        </p:nvSpPr>
        <p:spPr>
          <a:xfrm>
            <a:off x="837724" y="3250883"/>
            <a:ext cx="384571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Architecture &amp; Centralization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37724" y="3684508"/>
            <a:ext cx="6372701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Established a localized relational database (inventory.db) to ingest and centralize fragmented datasets, mapping relationships across Sales, Purchases, Vendor Invoices, and Purchase Prices containing 10,000+ records.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19856" y="2767489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19856" y="3100507"/>
            <a:ext cx="6372820" cy="22860"/>
          </a:xfrm>
          <a:prstGeom prst="rect">
            <a:avLst/>
          </a:prstGeom>
          <a:solidFill>
            <a:srgbClr val="D7425E"/>
          </a:solidFill>
          <a:ln/>
        </p:spPr>
      </p:sp>
      <p:sp>
        <p:nvSpPr>
          <p:cNvPr id="12" name="Text 10"/>
          <p:cNvSpPr/>
          <p:nvPr/>
        </p:nvSpPr>
        <p:spPr>
          <a:xfrm>
            <a:off x="7419856" y="3250883"/>
            <a:ext cx="402324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Transformation &amp; Aggregation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19856" y="3684508"/>
            <a:ext cx="6372820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Engineered SQL extraction pipeline using Common Table Expressions (CTEs) and complex LEFT JOINs to aggregate multilevel data into a comprehensive "Source of Truth" summary table.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7724" y="5391150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7724" y="5724168"/>
            <a:ext cx="6372701" cy="22860"/>
          </a:xfrm>
          <a:prstGeom prst="rect">
            <a:avLst/>
          </a:prstGeom>
          <a:solidFill>
            <a:srgbClr val="DD785E"/>
          </a:solidFill>
          <a:ln/>
        </p:spPr>
      </p:sp>
      <p:sp>
        <p:nvSpPr>
          <p:cNvPr id="16" name="Text 14"/>
          <p:cNvSpPr/>
          <p:nvPr/>
        </p:nvSpPr>
        <p:spPr>
          <a:xfrm>
            <a:off x="837724" y="5874544"/>
            <a:ext cx="415778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Cleaning &amp; Feature Engineering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7724" y="6308169"/>
            <a:ext cx="6372701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Developed Python-based processing to clean aggregated data, handle missing values, and engineer critical KPIs including Gross Profit, Profit Margin, Stock Turnover Ratio, and Sales-to-Purchase Ratio.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19856" y="5391150"/>
            <a:ext cx="209431" cy="261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unito Light" pitchFamily="34" charset="0"/>
                <a:ea typeface="Nunito Light" pitchFamily="34" charset="-122"/>
                <a:cs typeface="Nunito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19856" y="5724168"/>
            <a:ext cx="6372820" cy="22860"/>
          </a:xfrm>
          <a:prstGeom prst="rect">
            <a:avLst/>
          </a:prstGeom>
          <a:solidFill>
            <a:srgbClr val="48A8E2"/>
          </a:solidFill>
          <a:ln/>
        </p:spPr>
      </p:sp>
      <p:sp>
        <p:nvSpPr>
          <p:cNvPr id="20" name="Text 18"/>
          <p:cNvSpPr/>
          <p:nvPr/>
        </p:nvSpPr>
        <p:spPr>
          <a:xfrm>
            <a:off x="7419856" y="5874544"/>
            <a:ext cx="3324225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Statistical Analysis &amp; Insights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419856" y="6308169"/>
            <a:ext cx="6372820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Applied advanced statistical methods including correlation analysis, confidence intervals, and hypothesis testing to extract actionable business intelligence.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20961" y="466368"/>
            <a:ext cx="7671554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Distribution Reveals Critical Patterns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961" y="1239917"/>
            <a:ext cx="7040880" cy="4709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20961" y="6103501"/>
            <a:ext cx="3044071" cy="1683901"/>
          </a:xfrm>
          <a:prstGeom prst="roundRect">
            <a:avLst>
              <a:gd name="adj" fmla="val 15109"/>
            </a:avLst>
          </a:prstGeom>
          <a:solidFill>
            <a:srgbClr val="00002E"/>
          </a:solidFill>
          <a:ln w="1524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05746" y="6288286"/>
            <a:ext cx="199775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Negative Values Alert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205746" y="6620113"/>
            <a:ext cx="2674501" cy="98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Gross Profit minimum: -$52,002.78, indicating severe losses from products selling below cost due to aggressive discounting.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02311" y="6103501"/>
            <a:ext cx="3044190" cy="1683901"/>
          </a:xfrm>
          <a:prstGeom prst="roundRect">
            <a:avLst>
              <a:gd name="adj" fmla="val 15109"/>
            </a:avLst>
          </a:prstGeom>
          <a:solidFill>
            <a:srgbClr val="00002E"/>
          </a:solidFill>
          <a:ln w="1524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7096" y="6288286"/>
            <a:ext cx="199536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Zero Sales Products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387096" y="6620113"/>
            <a:ext cx="2674620" cy="98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Minimum sales quantities of 0 reveal slow-moving or obsolete stock contributing to the $2.71M locked capital.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83780" y="6103501"/>
            <a:ext cx="3044071" cy="1683901"/>
          </a:xfrm>
          <a:prstGeom prst="roundRect">
            <a:avLst>
              <a:gd name="adj" fmla="val 15109"/>
            </a:avLst>
          </a:prstGeom>
          <a:solidFill>
            <a:srgbClr val="00002E"/>
          </a:solidFill>
          <a:ln w="1524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68565" y="6288286"/>
            <a:ext cx="199536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Extreme Outliers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568565" y="6620113"/>
            <a:ext cx="2674501" cy="98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Freight costs range from $0.09 to $257,032.07, suggesting logistics inefficiencies requiring immediate audit.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565130" y="6103501"/>
            <a:ext cx="3044190" cy="1683901"/>
          </a:xfrm>
          <a:prstGeom prst="roundRect">
            <a:avLst>
              <a:gd name="adj" fmla="val 15109"/>
            </a:avLst>
          </a:prstGeom>
          <a:solidFill>
            <a:srgbClr val="00002E"/>
          </a:solidFill>
          <a:ln w="15240">
            <a:solidFill>
              <a:srgbClr val="48A8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49915" y="6288286"/>
            <a:ext cx="199536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Turnover Variance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10749915" y="6620113"/>
            <a:ext cx="2674620" cy="98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Stock turnover spans 0 to 274.5, with values &gt;1 indicating sales fulfilled from older inventory rather than recent purchases.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64707"/>
            <a:ext cx="8788479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Correlation Analysis: Key Relationships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630329"/>
            <a:ext cx="4680109" cy="29828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8328" y="2604135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Critical Insights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578328" y="3121581"/>
            <a:ext cx="6221968" cy="357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Purchase Price Independence: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Weak correlations with Total Sales Dollars (-0.012) and Gross Profit (-0.016) prove base price variations don't dictate revenue outcomes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Efficient Turnover: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Strong correlation (0.999) between purchase and sales quantity confirms efficient inventory management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Pricing Pressure: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Negative correlation (-0.179) between profit margin and sales price suggests competitive market forces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Turnover Paradox:</a:t>
            </a:r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Weak negative correlation (-0.055) between stock turnover and profit margin shows faster movement doesn't guarantee higher profitability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433393"/>
            <a:ext cx="1450181" cy="393502"/>
          </a:xfrm>
          <a:prstGeom prst="roundRect">
            <a:avLst>
              <a:gd name="adj" fmla="val 63875"/>
            </a:avLst>
          </a:prstGeom>
          <a:solidFill>
            <a:srgbClr val="4833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335" y="1546384"/>
            <a:ext cx="167521" cy="167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4557" y="1496139"/>
            <a:ext cx="947737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7724" y="1910596"/>
            <a:ext cx="7219355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Bulk Purchasing Advantage</a:t>
            </a:r>
            <a:endParaRPr lang="en-US" sz="3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3076218"/>
            <a:ext cx="6221968" cy="34842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78328" y="3050024"/>
            <a:ext cx="4239339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72% Cost Reduction Through Volume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7578328" y="3567470"/>
            <a:ext cx="622196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Vendors purchasing in bulk achieve the lowest unit price at $10.78 per unit, representing a substantial 72% reduction compared to small orders at $39.06 per unit.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78328" y="4761071"/>
            <a:ext cx="622196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dramatic price elasticity demonstrates that bulk pricing strategies successfully encourage larger orders, increasing total sales while maintaining profitability despite lower per-unit revenue.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7364" y="561856"/>
            <a:ext cx="5457468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The Profitability Paradox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817364" y="1561386"/>
            <a:ext cx="12995672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Hypothesis testing revealed a statistically significant divergence in how top-performing and low-performing vendors generate profit.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364" y="2108478"/>
            <a:ext cx="5189220" cy="2727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7364" y="5060633"/>
            <a:ext cx="6398181" cy="2608302"/>
          </a:xfrm>
          <a:prstGeom prst="roundRect">
            <a:avLst>
              <a:gd name="adj" fmla="val 4207"/>
            </a:avLst>
          </a:prstGeom>
          <a:solidFill>
            <a:srgbClr val="00002E">
              <a:alpha val="75000"/>
            </a:srgbClr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4504" y="5060633"/>
            <a:ext cx="91440" cy="2608302"/>
          </a:xfrm>
          <a:prstGeom prst="roundRect">
            <a:avLst>
              <a:gd name="adj" fmla="val 335205"/>
            </a:avLst>
          </a:prstGeom>
          <a:solidFill>
            <a:srgbClr val="F2B42D"/>
          </a:solidFill>
          <a:ln/>
        </p:spPr>
      </p:sp>
      <p:sp>
        <p:nvSpPr>
          <p:cNvPr id="7" name="Text 4"/>
          <p:cNvSpPr/>
          <p:nvPr/>
        </p:nvSpPr>
        <p:spPr>
          <a:xfrm>
            <a:off x="1113115" y="5287804"/>
            <a:ext cx="3869055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Low-Volume, High-Margin Vendors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113115" y="5707737"/>
            <a:ext cx="587525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95% CI: 40.48% - 42.62%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| Mean: 41.57%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13115" y="6150173"/>
            <a:ext cx="5875258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Low-performing vendors maintain premium pricing models or possess lower operational overhead. 198 brands exhibit this pattern and could benefit from targeted marketing to increase volume without compromising profitability.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14855" y="5060633"/>
            <a:ext cx="6398181" cy="2608302"/>
          </a:xfrm>
          <a:prstGeom prst="roundRect">
            <a:avLst>
              <a:gd name="adj" fmla="val 4207"/>
            </a:avLst>
          </a:prstGeom>
          <a:solidFill>
            <a:srgbClr val="00002E">
              <a:alpha val="75000"/>
            </a:srgbClr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91995" y="5060633"/>
            <a:ext cx="91440" cy="2608302"/>
          </a:xfrm>
          <a:prstGeom prst="roundRect">
            <a:avLst>
              <a:gd name="adj" fmla="val 335205"/>
            </a:avLst>
          </a:prstGeom>
          <a:solidFill>
            <a:srgbClr val="D7425E"/>
          </a:solidFill>
          <a:ln/>
        </p:spPr>
      </p:sp>
      <p:sp>
        <p:nvSpPr>
          <p:cNvPr id="12" name="Text 9"/>
          <p:cNvSpPr/>
          <p:nvPr/>
        </p:nvSpPr>
        <p:spPr>
          <a:xfrm>
            <a:off x="7710607" y="5287804"/>
            <a:ext cx="3896678" cy="300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High-Volume, Thin-Margin Vendors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710607" y="5707737"/>
            <a:ext cx="5875258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95% CI: 30.74% - 31.61%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| Mean: 31.18%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10607" y="6150173"/>
            <a:ext cx="5875258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Top-performing vendors operate on thinner margins, relying on high-volume turnover. They could explore selective price adjustments, cost optimization, or bundling strategies to improve profitability.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78625"/>
            <a:ext cx="10277356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Vendor Concentration &amp; Inventory Challenges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544247"/>
            <a:ext cx="4259580" cy="2727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8328" y="2518053"/>
            <a:ext cx="487394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Top 10 Vendors Drive 65.69% of Purchases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578328" y="3035498"/>
            <a:ext cx="6221968" cy="1005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DIAGEO NORTH AMERICA leads at 16.3%, followed by MARTIGNETTI COMPANIES (8.3%) and PERNOD RICARD USA (7.8%). This concentration presents both opportunity and risk.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8328" y="4250055"/>
            <a:ext cx="3121223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$2.71M in Unsold Inventory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578328" y="4767501"/>
            <a:ext cx="6221968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Slow-moving inventory increases storage costs and reduces cash flow efficiency. Top contributors to unsold inventory: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578328" y="5626060"/>
            <a:ext cx="6221968" cy="1151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DIAGEO: $722.21K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JIM BEAM: $554.67K</a:t>
            </a:r>
            <a:endParaRPr lang="en-US" sz="160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PERNOD RICARD: $470.63K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642824"/>
            <a:ext cx="1716167" cy="393502"/>
          </a:xfrm>
          <a:prstGeom prst="roundRect">
            <a:avLst>
              <a:gd name="adj" fmla="val 63875"/>
            </a:avLst>
          </a:prstGeom>
          <a:solidFill>
            <a:srgbClr val="4833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3335" y="1755815"/>
            <a:ext cx="167521" cy="167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14557" y="1705570"/>
            <a:ext cx="1213723" cy="268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CRITICAL ISSUES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37724" y="2120027"/>
            <a:ext cx="10352723" cy="615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Operational Risks Requiring Immediate Action</a:t>
            </a:r>
            <a:endParaRPr lang="en-US" sz="3850" dirty="0"/>
          </a:p>
        </p:txBody>
      </p:sp>
      <p:sp>
        <p:nvSpPr>
          <p:cNvPr id="6" name="Shape 3"/>
          <p:cNvSpPr/>
          <p:nvPr/>
        </p:nvSpPr>
        <p:spPr>
          <a:xfrm>
            <a:off x="837724" y="3050024"/>
            <a:ext cx="4178618" cy="3536752"/>
          </a:xfrm>
          <a:prstGeom prst="roundRect">
            <a:avLst>
              <a:gd name="adj" fmla="val 8884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70015" y="3282315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F2B4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774" y="3455075"/>
            <a:ext cx="282654" cy="28265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0015" y="4120039"/>
            <a:ext cx="2918222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Loss-Making Transactions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070015" y="4553664"/>
            <a:ext cx="3714036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Minimum Gross Profit: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-$52,002.78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070015" y="5014317"/>
            <a:ext cx="3714036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Products actively sold at steep losses due to aggressive discounting below purchase cost. Pricing algorithms require immediate review.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225772" y="3050024"/>
            <a:ext cx="4178737" cy="3536752"/>
          </a:xfrm>
          <a:prstGeom prst="roundRect">
            <a:avLst>
              <a:gd name="adj" fmla="val 8884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58063" y="3282315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D7425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823" y="3455075"/>
            <a:ext cx="282654" cy="2826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58063" y="4120039"/>
            <a:ext cx="2464118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Freight Inefficiencies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5458063" y="4553664"/>
            <a:ext cx="37141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Range: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$0.09 to $257,032.07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58063" y="5014317"/>
            <a:ext cx="371415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Massive variance points to severe logistics inefficiencies or disproportionate bulk shipment costs requiring immediate auditing.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613940" y="3050024"/>
            <a:ext cx="4178737" cy="3536752"/>
          </a:xfrm>
          <a:prstGeom prst="roundRect">
            <a:avLst>
              <a:gd name="adj" fmla="val 8884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846231" y="3282315"/>
            <a:ext cx="628293" cy="628293"/>
          </a:xfrm>
          <a:prstGeom prst="roundRect">
            <a:avLst>
              <a:gd name="adj" fmla="val 14552264"/>
            </a:avLst>
          </a:prstGeom>
          <a:solidFill>
            <a:srgbClr val="DD785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8990" y="3455075"/>
            <a:ext cx="282654" cy="2826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846231" y="4120039"/>
            <a:ext cx="2529721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Low Turnover Vendors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9846231" y="4553664"/>
            <a:ext cx="3714155" cy="335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Stock Turnover: </a:t>
            </a:r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0.62 - 0.81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846231" y="5014317"/>
            <a:ext cx="3714155" cy="134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Vendors like ALISA CARR BEVERAGES (0.62) and HIGHLAND WINE MERCHANTS (0.71) contribute significantly to locked capital.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7123" y="602694"/>
            <a:ext cx="1420178" cy="368379"/>
          </a:xfrm>
          <a:prstGeom prst="roundRect">
            <a:avLst>
              <a:gd name="adj" fmla="val 64925"/>
            </a:avLst>
          </a:prstGeom>
          <a:solidFill>
            <a:srgbClr val="4833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6662" y="707112"/>
            <a:ext cx="159425" cy="159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5740" y="662464"/>
            <a:ext cx="94202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ACTION PLAN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7123" y="1046917"/>
            <a:ext cx="10976729" cy="5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Strategic Recommendations for Profit Maximization</a:t>
            </a:r>
            <a:endParaRPr lang="en-US" sz="36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123" y="1917502"/>
            <a:ext cx="996434" cy="14273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83105" y="2116693"/>
            <a:ext cx="4392811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Reallocate Marketing for "Target Brands"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983105" y="2523411"/>
            <a:ext cx="11850172" cy="62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Redirect advertising budgets toward the 198 low-volume, high-margin vendors in the 40%+ profit margin bracket. Increasing their sales volume will yield disproportionately higher gross profits.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123" y="3344823"/>
            <a:ext cx="996434" cy="14273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83105" y="3544014"/>
            <a:ext cx="2344698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Liquidate Dead Stock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1983105" y="3950732"/>
            <a:ext cx="11850172" cy="62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Address the $2.71M in locked capital by identifying products with zero sales quantity. Implement aggressive bundling strategies or targeted discount campaigns to convert obsolete inventory back into liquid cash.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123" y="4772144"/>
            <a:ext cx="996434" cy="14273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83105" y="4971336"/>
            <a:ext cx="3127177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Audit Freight &amp; Loss-Leaders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1983105" y="5378053"/>
            <a:ext cx="11850172" cy="62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Immediately investigate logistics contracts causing $257K freight cost spikes. Halt or strictly review pricing algorithms allowing products to be sold at the -$52K maximum loss threshold.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23" y="6199465"/>
            <a:ext cx="996434" cy="14273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983105" y="6398657"/>
            <a:ext cx="3822502" cy="29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Optimize Volume-Pricing Strategies</a:t>
            </a:r>
            <a:endParaRPr lang="en-US" sz="1800" dirty="0"/>
          </a:p>
        </p:txBody>
      </p:sp>
      <p:sp>
        <p:nvSpPr>
          <p:cNvPr id="17" name="Text 10"/>
          <p:cNvSpPr/>
          <p:nvPr/>
        </p:nvSpPr>
        <p:spPr>
          <a:xfrm>
            <a:off x="1983105" y="6805374"/>
            <a:ext cx="11850172" cy="622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For high-volume vendors operating on thinner margins (~31%), explore selective incremental price adjustments or cost-optimization strategies to widen margins without sacrificing market share.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2026-02-16T14:52:42Z</dcterms:created>
  <dcterms:modified xsi:type="dcterms:W3CDTF">2026-02-16T14:52:42Z</dcterms:modified>
</cp:coreProperties>
</file>